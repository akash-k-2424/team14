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66" r:id="rId3"/>
    <p:sldId id="264" r:id="rId4"/>
    <p:sldId id="272" r:id="rId5"/>
    <p:sldId id="268" r:id="rId6"/>
    <p:sldId id="273" r:id="rId7"/>
    <p:sldId id="269" r:id="rId8"/>
    <p:sldId id="274" r:id="rId9"/>
    <p:sldId id="275" r:id="rId10"/>
    <p:sldId id="265" r:id="rId11"/>
    <p:sldId id="276" r:id="rId12"/>
    <p:sldId id="277" r:id="rId13"/>
    <p:sldId id="27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05"/>
    <p:restoredTop sz="94698"/>
  </p:normalViewPr>
  <p:slideViewPr>
    <p:cSldViewPr snapToGrid="0">
      <p:cViewPr varScale="1">
        <p:scale>
          <a:sx n="117" d="100"/>
          <a:sy n="117" d="100"/>
        </p:scale>
        <p:origin x="192"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06A93-1F4D-33E1-CE24-D23C08BDE7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C3928B-44C0-B2F1-5CD0-CC6A37CEAA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59EEF9-7DC3-6583-3DC7-2C67A83958DC}"/>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5" name="Footer Placeholder 4">
            <a:extLst>
              <a:ext uri="{FF2B5EF4-FFF2-40B4-BE49-F238E27FC236}">
                <a16:creationId xmlns:a16="http://schemas.microsoft.com/office/drawing/2014/main" id="{324A6280-5B82-6622-3CC2-1CC4C8B294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AF04C-3B07-C71A-64D9-3112560066DA}"/>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2015704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421E8-192D-2905-2898-8FE147B324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F88454-47E1-F1F2-EC40-019EE43A72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A90F5B-0240-7E79-410A-A9A82B978645}"/>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5" name="Footer Placeholder 4">
            <a:extLst>
              <a:ext uri="{FF2B5EF4-FFF2-40B4-BE49-F238E27FC236}">
                <a16:creationId xmlns:a16="http://schemas.microsoft.com/office/drawing/2014/main" id="{C56AF6AF-E6AD-21C9-6BBB-F00E23F79D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B425B8-0C86-3B46-9293-B21249988E8D}"/>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427493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526FD-A09D-E705-A6E3-AA8C7FA123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9FC958-25A6-C5D2-E674-E31DC68FAE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FA2A42-1AA0-564C-1A22-FA45447CDBFE}"/>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5" name="Footer Placeholder 4">
            <a:extLst>
              <a:ext uri="{FF2B5EF4-FFF2-40B4-BE49-F238E27FC236}">
                <a16:creationId xmlns:a16="http://schemas.microsoft.com/office/drawing/2014/main" id="{B04F1204-5742-9509-580A-314689F2F8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CB9EE1-528A-B462-5D41-F50ED8B60A6F}"/>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3456436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EFE2A-6557-ED60-31A3-BCDAC36BE0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8E90EF-7DF7-C854-6BA1-C569F11FAD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D03F06-E347-FBE7-E152-D81AE776F1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906D5F-7A64-9FA8-5B9A-2479E42400FD}"/>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6" name="Footer Placeholder 5">
            <a:extLst>
              <a:ext uri="{FF2B5EF4-FFF2-40B4-BE49-F238E27FC236}">
                <a16:creationId xmlns:a16="http://schemas.microsoft.com/office/drawing/2014/main" id="{F6A4A0F0-9F35-E0FF-DB99-22C181028F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8D8993-0255-19BF-8BF2-36C29291D360}"/>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1526621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AB7E4-39CE-DB83-5737-CC84BFE962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181A967-DA78-9C08-83C2-3E6B24B6C4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985D46-0568-DDD0-A140-FD709D3861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DCB96F-06B6-C321-96BB-38567B7DDD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23DA1C-06DE-6731-8007-720F66DBB9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404F8E-070C-780C-473A-6ED4FFE8F47C}"/>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8" name="Footer Placeholder 7">
            <a:extLst>
              <a:ext uri="{FF2B5EF4-FFF2-40B4-BE49-F238E27FC236}">
                <a16:creationId xmlns:a16="http://schemas.microsoft.com/office/drawing/2014/main" id="{3D74E8CA-E60B-4AB0-5883-85F882F2C3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0DBDC2-9504-192F-E678-29CB859AA0B9}"/>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3039762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5320A-38F7-4487-C3EB-F3FA4B9A20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7584AD3-2D8D-33F1-7BF5-6143B06A8DDF}"/>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4" name="Footer Placeholder 3">
            <a:extLst>
              <a:ext uri="{FF2B5EF4-FFF2-40B4-BE49-F238E27FC236}">
                <a16:creationId xmlns:a16="http://schemas.microsoft.com/office/drawing/2014/main" id="{210B7125-89B5-A92E-1F53-1AD03D221A4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7BCDAF-CC1D-39B3-902A-C65A5294062E}"/>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646195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4F185F-39E7-E15E-D4EC-B988930642A1}"/>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3" name="Footer Placeholder 2">
            <a:extLst>
              <a:ext uri="{FF2B5EF4-FFF2-40B4-BE49-F238E27FC236}">
                <a16:creationId xmlns:a16="http://schemas.microsoft.com/office/drawing/2014/main" id="{54B43D73-619F-933D-0974-8AC7B76C53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ADB650-C721-BAC0-AF39-6EBE17906821}"/>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271823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B763-FFF8-965C-8AC1-8A6CE0B06D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210DF60-FF5F-74D5-0050-5EB584EF9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BD8857-B39C-F30B-9F8C-6E4AADB8CB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089036-D64C-F207-B07C-B58761C87A9E}"/>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6" name="Footer Placeholder 5">
            <a:extLst>
              <a:ext uri="{FF2B5EF4-FFF2-40B4-BE49-F238E27FC236}">
                <a16:creationId xmlns:a16="http://schemas.microsoft.com/office/drawing/2014/main" id="{9E46AC8F-C984-CA43-9E8D-3DBB50AF09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6A0C3B-FBE2-B9D2-D8B4-92F2E8E13E81}"/>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3115026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D0A0D-D6E5-3FCB-AEA8-D5B2187958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2CFDADF-D811-DE07-6401-A13FBBCF2D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39543CA-3F24-BE75-B31A-7B94DB152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A950FB-6DF4-13C6-E309-9955C825BF7F}"/>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6" name="Footer Placeholder 5">
            <a:extLst>
              <a:ext uri="{FF2B5EF4-FFF2-40B4-BE49-F238E27FC236}">
                <a16:creationId xmlns:a16="http://schemas.microsoft.com/office/drawing/2014/main" id="{39056AC3-545D-BFF6-9CE6-B148239401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5A2C66-4C11-E36B-0B3A-B0EE95837BD2}"/>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3881094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41664-0E3D-6DD2-DF40-E4F0D32C27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9983AF-0568-83E9-0C26-C35DCDE4F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5E58D5-B602-7398-43B6-A4903F958DAD}"/>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5" name="Footer Placeholder 4">
            <a:extLst>
              <a:ext uri="{FF2B5EF4-FFF2-40B4-BE49-F238E27FC236}">
                <a16:creationId xmlns:a16="http://schemas.microsoft.com/office/drawing/2014/main" id="{7744DAD4-0F8E-BBC7-BEB5-309429FEC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1E3BF4-7472-589B-5AFA-38E5C7189AAA}"/>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3115435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8E5B7A-4D32-B372-B9B5-57DB55C625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9B3DCED-FF9E-9F42-58E4-A159E3157A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68DAC7-A028-E1BE-67DA-970DF7F067BD}"/>
              </a:ext>
            </a:extLst>
          </p:cNvPr>
          <p:cNvSpPr>
            <a:spLocks noGrp="1"/>
          </p:cNvSpPr>
          <p:nvPr>
            <p:ph type="dt" sz="half" idx="10"/>
          </p:nvPr>
        </p:nvSpPr>
        <p:spPr/>
        <p:txBody>
          <a:bodyPr/>
          <a:lstStyle/>
          <a:p>
            <a:fld id="{21B537A6-A5FA-4FFC-B631-D4A3A1E8246E}" type="datetimeFigureOut">
              <a:rPr lang="en-IN" smtClean="0"/>
              <a:t>15/04/26</a:t>
            </a:fld>
            <a:endParaRPr lang="en-IN"/>
          </a:p>
        </p:txBody>
      </p:sp>
      <p:sp>
        <p:nvSpPr>
          <p:cNvPr id="5" name="Footer Placeholder 4">
            <a:extLst>
              <a:ext uri="{FF2B5EF4-FFF2-40B4-BE49-F238E27FC236}">
                <a16:creationId xmlns:a16="http://schemas.microsoft.com/office/drawing/2014/main" id="{1BD31F84-E536-C004-A705-A250C64FAF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AE3241-4982-78E7-0D79-144098A95BDF}"/>
              </a:ext>
            </a:extLst>
          </p:cNvPr>
          <p:cNvSpPr>
            <a:spLocks noGrp="1"/>
          </p:cNvSpPr>
          <p:nvPr>
            <p:ph type="sldNum" sz="quarter" idx="12"/>
          </p:nvPr>
        </p:nvSpPr>
        <p:spPr/>
        <p:txBody>
          <a:bodyPr/>
          <a:lstStyle/>
          <a:p>
            <a:fld id="{D7B81C0A-1096-49BF-AA6F-9D0350364E34}" type="slidenum">
              <a:rPr lang="en-IN" smtClean="0"/>
              <a:t>‹#›</a:t>
            </a:fld>
            <a:endParaRPr lang="en-IN"/>
          </a:p>
        </p:txBody>
      </p:sp>
    </p:spTree>
    <p:extLst>
      <p:ext uri="{BB962C8B-B14F-4D97-AF65-F5344CB8AC3E}">
        <p14:creationId xmlns:p14="http://schemas.microsoft.com/office/powerpoint/2010/main" val="3974569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91AC8-5DC3-03D2-9539-933089CE96B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200CD6-0050-319E-8982-A36CD48408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F4998C-7865-3142-233F-D77A7F05E1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B537A6-A5FA-4FFC-B631-D4A3A1E8246E}" type="datetimeFigureOut">
              <a:rPr lang="en-IN" smtClean="0"/>
              <a:t>15/04/26</a:t>
            </a:fld>
            <a:endParaRPr lang="en-IN"/>
          </a:p>
        </p:txBody>
      </p:sp>
      <p:sp>
        <p:nvSpPr>
          <p:cNvPr id="5" name="Footer Placeholder 4">
            <a:extLst>
              <a:ext uri="{FF2B5EF4-FFF2-40B4-BE49-F238E27FC236}">
                <a16:creationId xmlns:a16="http://schemas.microsoft.com/office/drawing/2014/main" id="{23DE442A-CFF8-45C7-821E-D06E9B90F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1AA0FE1-D3D3-EFE1-3D64-511B5293AC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B81C0A-1096-49BF-AA6F-9D0350364E34}" type="slidenum">
              <a:rPr lang="en-IN" smtClean="0"/>
              <a:t>‹#›</a:t>
            </a:fld>
            <a:endParaRPr lang="en-IN"/>
          </a:p>
        </p:txBody>
      </p:sp>
    </p:spTree>
    <p:extLst>
      <p:ext uri="{BB962C8B-B14F-4D97-AF65-F5344CB8AC3E}">
        <p14:creationId xmlns:p14="http://schemas.microsoft.com/office/powerpoint/2010/main" val="1534992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7BD20-23FF-9C61-AC78-997E80325DCC}"/>
              </a:ext>
            </a:extLst>
          </p:cNvPr>
          <p:cNvSpPr>
            <a:spLocks noGrp="1"/>
          </p:cNvSpPr>
          <p:nvPr>
            <p:ph type="title"/>
          </p:nvPr>
        </p:nvSpPr>
        <p:spPr>
          <a:xfrm>
            <a:off x="831850" y="1709739"/>
            <a:ext cx="10515600" cy="1500188"/>
          </a:xfrm>
        </p:spPr>
        <p:txBody>
          <a:bodyPr>
            <a:normAutofit fontScale="90000"/>
          </a:bodyPr>
          <a:lstStyle/>
          <a:p>
            <a:r>
              <a:rPr lang="en-IN" dirty="0"/>
              <a:t>                        </a:t>
            </a:r>
            <a:r>
              <a:rPr lang="en-IN" b="1" dirty="0">
                <a:solidFill>
                  <a:srgbClr val="000000"/>
                </a:solidFill>
                <a:latin typeface="Times New Roman" panose="02020603050405020304" pitchFamily="18" charset="0"/>
                <a:cs typeface="Times New Roman" panose="02020603050405020304" pitchFamily="18" charset="0"/>
              </a:rPr>
              <a:t>AI Resume Builder</a:t>
            </a:r>
            <a:br>
              <a:rPr lang="en-IN" dirty="0"/>
            </a:br>
            <a:endParaRPr lang="en-IN" dirty="0"/>
          </a:p>
        </p:txBody>
      </p:sp>
      <p:sp>
        <p:nvSpPr>
          <p:cNvPr id="3" name="Text Placeholder 2">
            <a:extLst>
              <a:ext uri="{FF2B5EF4-FFF2-40B4-BE49-F238E27FC236}">
                <a16:creationId xmlns:a16="http://schemas.microsoft.com/office/drawing/2014/main" id="{F635F389-6768-1DEE-6175-42CE7C006CE2}"/>
              </a:ext>
            </a:extLst>
          </p:cNvPr>
          <p:cNvSpPr>
            <a:spLocks noGrp="1"/>
          </p:cNvSpPr>
          <p:nvPr>
            <p:ph type="body" idx="1"/>
          </p:nvPr>
        </p:nvSpPr>
        <p:spPr>
          <a:xfrm>
            <a:off x="5053780" y="3648075"/>
            <a:ext cx="6293669" cy="1425370"/>
          </a:xfrm>
        </p:spPr>
        <p:txBody>
          <a:bodyPr/>
          <a:lstStyle/>
          <a:p>
            <a:r>
              <a:rPr lang="en-IN" dirty="0">
                <a:solidFill>
                  <a:srgbClr val="000000"/>
                </a:solidFill>
                <a:latin typeface="Times New Roman" panose="02020603050405020304" pitchFamily="18" charset="0"/>
                <a:cs typeface="Times New Roman" panose="02020603050405020304" pitchFamily="18" charset="0"/>
              </a:rPr>
              <a:t>Kotha Akash , RA2312704010004</a:t>
            </a:r>
          </a:p>
          <a:p>
            <a:r>
              <a:rPr lang="en-IN" dirty="0">
                <a:solidFill>
                  <a:srgbClr val="000000"/>
                </a:solidFill>
                <a:latin typeface="Times New Roman" panose="02020603050405020304" pitchFamily="18" charset="0"/>
                <a:cs typeface="Times New Roman" panose="02020603050405020304" pitchFamily="18" charset="0"/>
              </a:rPr>
              <a:t>Yugeswar , RA2312704010006</a:t>
            </a:r>
          </a:p>
          <a:p>
            <a:r>
              <a:rPr lang="en-IN" dirty="0">
                <a:solidFill>
                  <a:srgbClr val="000000"/>
                </a:solidFill>
                <a:latin typeface="Times New Roman" panose="02020603050405020304" pitchFamily="18" charset="0"/>
                <a:cs typeface="Times New Roman" panose="02020603050405020304" pitchFamily="18" charset="0"/>
              </a:rPr>
              <a:t>Rajya Laxmi , RA2312704010046</a:t>
            </a:r>
          </a:p>
          <a:p>
            <a:endParaRPr lang="en-IN" dirty="0">
              <a:solidFill>
                <a:srgbClr val="000000"/>
              </a:solidFill>
              <a:latin typeface="Times New Roman" panose="02020603050405020304" pitchFamily="18" charset="0"/>
              <a:cs typeface="Times New Roman" panose="02020603050405020304" pitchFamily="18" charset="0"/>
            </a:endParaRPr>
          </a:p>
          <a:p>
            <a:endParaRPr lang="en-IN" dirty="0"/>
          </a:p>
        </p:txBody>
      </p:sp>
      <p:sp>
        <p:nvSpPr>
          <p:cNvPr id="99" name="Border 99"/>
          <p:cNvSpPr>
            <a:spLocks noGrp="1"/>
          </p:cNvSpPr>
          <p:nvPr/>
        </p:nvSpPr>
        <p:spPr>
          <a:xfrm>
            <a:off x="152400" y="152400"/>
            <a:ext cx="11887200" cy="6553200"/>
          </a:xfrm>
          <a:prstGeom prst="rect">
            <a:avLst/>
          </a:prstGeom>
          <a:noFill/>
          <a:ln w="38100">
            <a:solidFill>
              <a:srgbClr val="1A3A5C"/>
            </a:solidFill>
          </a:ln>
        </p:spPr>
        <p:txBody>
          <a:bodyPr/>
          <a:lstStyle/>
          <a:p>
            <a:endParaRPr lang="en-IN" dirty="0"/>
          </a:p>
        </p:txBody>
      </p:sp>
    </p:spTree>
    <p:extLst>
      <p:ext uri="{BB962C8B-B14F-4D97-AF65-F5344CB8AC3E}">
        <p14:creationId xmlns:p14="http://schemas.microsoft.com/office/powerpoint/2010/main" val="140875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53567-7A96-B1C2-DEC9-88DDC4197CF9}"/>
              </a:ext>
            </a:extLst>
          </p:cNvPr>
          <p:cNvSpPr>
            <a:spLocks noGrp="1"/>
          </p:cNvSpPr>
          <p:nvPr>
            <p:ph type="title"/>
          </p:nvPr>
        </p:nvSpPr>
        <p:spPr>
          <a:xfrm>
            <a:off x="1025013" y="2193925"/>
            <a:ext cx="10515600" cy="1325563"/>
          </a:xfrm>
        </p:spPr>
        <p:txBody>
          <a:bodyPr>
            <a:normAutofit fontScale="90000"/>
          </a:bodyPr>
          <a:lstStyle/>
          <a:p>
            <a:r>
              <a:rPr lang="en-IN" dirty="0"/>
              <a:t>                             </a:t>
            </a:r>
            <a:r>
              <a:rPr lang="en-IN" b="1" dirty="0"/>
              <a:t>Review -2 </a:t>
            </a:r>
            <a:br>
              <a:rPr lang="en-IN" b="1" dirty="0"/>
            </a:br>
            <a:br>
              <a:rPr lang="en-IN" b="1" dirty="0"/>
            </a:br>
            <a:r>
              <a:rPr lang="en-IN" b="1" dirty="0"/>
              <a:t>                          </a:t>
            </a:r>
            <a:r>
              <a:rPr lang="en-IN" b="1" dirty="0">
                <a:highlight>
                  <a:srgbClr val="FFFF00"/>
                </a:highlight>
              </a:rPr>
              <a:t>70% Completion</a:t>
            </a:r>
          </a:p>
        </p:txBody>
      </p:sp>
    </p:spTree>
    <p:extLst>
      <p:ext uri="{BB962C8B-B14F-4D97-AF65-F5344CB8AC3E}">
        <p14:creationId xmlns:p14="http://schemas.microsoft.com/office/powerpoint/2010/main" val="1684764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475F9-A0B2-6169-FC8C-EC3E5D9B45F3}"/>
              </a:ext>
            </a:extLst>
          </p:cNvPr>
          <p:cNvSpPr>
            <a:spLocks noGrp="1"/>
          </p:cNvSpPr>
          <p:nvPr>
            <p:ph type="title"/>
          </p:nvPr>
        </p:nvSpPr>
        <p:spPr>
          <a:xfrm>
            <a:off x="838200" y="365125"/>
            <a:ext cx="10515600" cy="490281"/>
          </a:xfrm>
        </p:spPr>
        <p:txBody>
          <a:bodyPr>
            <a:normAutofit fontScale="90000"/>
          </a:bodyPr>
          <a:lstStyle/>
          <a:p>
            <a:r>
              <a:rPr lang="en-IN" b="1" dirty="0"/>
              <a:t>          </a:t>
            </a:r>
            <a:r>
              <a:rPr lang="en-IN" b="1" dirty="0">
                <a:latin typeface="Times New Roman" panose="02020603050405020304" pitchFamily="18" charset="0"/>
                <a:cs typeface="Times New Roman" panose="02020603050405020304" pitchFamily="18" charset="0"/>
              </a:rPr>
              <a:t>Project Implementation Status</a:t>
            </a:r>
          </a:p>
        </p:txBody>
      </p:sp>
      <p:graphicFrame>
        <p:nvGraphicFramePr>
          <p:cNvPr id="4" name="Table 3">
            <a:extLst>
              <a:ext uri="{FF2B5EF4-FFF2-40B4-BE49-F238E27FC236}">
                <a16:creationId xmlns:a16="http://schemas.microsoft.com/office/drawing/2014/main" id="{3C8A1D16-27D4-7EC2-64C8-952C52344A86}"/>
              </a:ext>
            </a:extLst>
          </p:cNvPr>
          <p:cNvGraphicFramePr>
            <a:graphicFrameLocks noGrp="1"/>
          </p:cNvGraphicFramePr>
          <p:nvPr>
            <p:extLst>
              <p:ext uri="{D42A27DB-BD31-4B8C-83A1-F6EECF244321}">
                <p14:modId xmlns:p14="http://schemas.microsoft.com/office/powerpoint/2010/main" val="4137639102"/>
              </p:ext>
            </p:extLst>
          </p:nvPr>
        </p:nvGraphicFramePr>
        <p:xfrm>
          <a:off x="1255252" y="855406"/>
          <a:ext cx="8832645" cy="6035040"/>
        </p:xfrm>
        <a:graphic>
          <a:graphicData uri="http://schemas.openxmlformats.org/drawingml/2006/table">
            <a:tbl>
              <a:tblPr firstRow="1" bandRow="1">
                <a:tableStyleId>{5C22544A-7EE6-4342-B048-85BDC9FD1C3A}</a:tableStyleId>
              </a:tblPr>
              <a:tblGrid>
                <a:gridCol w="760361">
                  <a:extLst>
                    <a:ext uri="{9D8B030D-6E8A-4147-A177-3AD203B41FA5}">
                      <a16:colId xmlns:a16="http://schemas.microsoft.com/office/drawing/2014/main" val="1661185801"/>
                    </a:ext>
                  </a:extLst>
                </a:gridCol>
                <a:gridCol w="2490839">
                  <a:extLst>
                    <a:ext uri="{9D8B030D-6E8A-4147-A177-3AD203B41FA5}">
                      <a16:colId xmlns:a16="http://schemas.microsoft.com/office/drawing/2014/main" val="4206882650"/>
                    </a:ext>
                  </a:extLst>
                </a:gridCol>
                <a:gridCol w="2100826">
                  <a:extLst>
                    <a:ext uri="{9D8B030D-6E8A-4147-A177-3AD203B41FA5}">
                      <a16:colId xmlns:a16="http://schemas.microsoft.com/office/drawing/2014/main" val="2780559845"/>
                    </a:ext>
                  </a:extLst>
                </a:gridCol>
                <a:gridCol w="1946787">
                  <a:extLst>
                    <a:ext uri="{9D8B030D-6E8A-4147-A177-3AD203B41FA5}">
                      <a16:colId xmlns:a16="http://schemas.microsoft.com/office/drawing/2014/main" val="2335021032"/>
                    </a:ext>
                  </a:extLst>
                </a:gridCol>
                <a:gridCol w="1533832">
                  <a:extLst>
                    <a:ext uri="{9D8B030D-6E8A-4147-A177-3AD203B41FA5}">
                      <a16:colId xmlns:a16="http://schemas.microsoft.com/office/drawing/2014/main" val="2202913030"/>
                    </a:ext>
                  </a:extLst>
                </a:gridCol>
              </a:tblGrid>
              <a:tr h="363794">
                <a:tc>
                  <a:txBody>
                    <a:bodyPr/>
                    <a:lstStyle/>
                    <a:p>
                      <a:r>
                        <a:rPr lang="en-IN" dirty="0"/>
                        <a:t>S no </a:t>
                      </a:r>
                    </a:p>
                  </a:txBody>
                  <a:tcPr/>
                </a:tc>
                <a:tc>
                  <a:txBody>
                    <a:bodyPr/>
                    <a:lstStyle/>
                    <a:p>
                      <a:r>
                        <a:rPr lang="en-IN" dirty="0"/>
                        <a:t>Module/Feature</a:t>
                      </a:r>
                    </a:p>
                  </a:txBody>
                  <a:tcPr/>
                </a:tc>
                <a:tc>
                  <a:txBody>
                    <a:bodyPr/>
                    <a:lstStyle/>
                    <a:p>
                      <a:r>
                        <a:rPr lang="en-IN" dirty="0"/>
                        <a:t>Planned Features</a:t>
                      </a:r>
                    </a:p>
                  </a:txBody>
                  <a:tcPr/>
                </a:tc>
                <a:tc>
                  <a:txBody>
                    <a:bodyPr/>
                    <a:lstStyle/>
                    <a:p>
                      <a:r>
                        <a:rPr lang="en-IN" dirty="0"/>
                        <a:t>Completion Status</a:t>
                      </a:r>
                    </a:p>
                  </a:txBody>
                  <a:tcPr/>
                </a:tc>
                <a:tc>
                  <a:txBody>
                    <a:bodyPr/>
                    <a:lstStyle/>
                    <a:p>
                      <a:r>
                        <a:rPr lang="en-IN" dirty="0"/>
                        <a:t>Remarks</a:t>
                      </a:r>
                    </a:p>
                  </a:txBody>
                  <a:tcPr/>
                </a:tc>
                <a:extLst>
                  <a:ext uri="{0D108BD9-81ED-4DB2-BD59-A6C34878D82A}">
                    <a16:rowId xmlns:a16="http://schemas.microsoft.com/office/drawing/2014/main" val="3022663986"/>
                  </a:ext>
                </a:extLst>
              </a:tr>
              <a:tr h="636639">
                <a:tc>
                  <a:txBody>
                    <a:bodyPr/>
                    <a:lstStyle/>
                    <a:p>
                      <a:r>
                        <a:rPr lang="en-IN" dirty="0"/>
                        <a:t>1</a:t>
                      </a:r>
                    </a:p>
                  </a:txBody>
                  <a:tcPr/>
                </a:tc>
                <a:tc>
                  <a:txBody>
                    <a:bodyPr/>
                    <a:lstStyle/>
                    <a:p>
                      <a:r>
                        <a:rPr lang="en-IN" dirty="0"/>
                        <a:t>User Authentication</a:t>
                      </a:r>
                    </a:p>
                  </a:txBody>
                  <a:tcPr/>
                </a:tc>
                <a:tc>
                  <a:txBody>
                    <a:bodyPr/>
                    <a:lstStyle/>
                    <a:p>
                      <a:r>
                        <a:rPr lang="en-IN" dirty="0"/>
                        <a:t>Login, Signup, JWT Auth</a:t>
                      </a:r>
                    </a:p>
                  </a:txBody>
                  <a:tcPr/>
                </a:tc>
                <a:tc>
                  <a:txBody>
                    <a:bodyPr/>
                    <a:lstStyle/>
                    <a:p>
                      <a:r>
                        <a:rPr lang="en-IN" dirty="0"/>
                        <a:t>80% Done</a:t>
                      </a:r>
                    </a:p>
                  </a:txBody>
                  <a:tcPr/>
                </a:tc>
                <a:tc>
                  <a:txBody>
                    <a:bodyPr/>
                    <a:lstStyle/>
                    <a:p>
                      <a:r>
                        <a:rPr lang="en-IN" dirty="0"/>
                        <a:t>Google access left</a:t>
                      </a:r>
                    </a:p>
                  </a:txBody>
                  <a:tcPr/>
                </a:tc>
                <a:extLst>
                  <a:ext uri="{0D108BD9-81ED-4DB2-BD59-A6C34878D82A}">
                    <a16:rowId xmlns:a16="http://schemas.microsoft.com/office/drawing/2014/main" val="1053493197"/>
                  </a:ext>
                </a:extLst>
              </a:tr>
              <a:tr h="636639">
                <a:tc>
                  <a:txBody>
                    <a:bodyPr/>
                    <a:lstStyle/>
                    <a:p>
                      <a:r>
                        <a:rPr lang="en-IN" dirty="0"/>
                        <a:t>2</a:t>
                      </a:r>
                    </a:p>
                  </a:txBody>
                  <a:tcPr/>
                </a:tc>
                <a:tc>
                  <a:txBody>
                    <a:bodyPr/>
                    <a:lstStyle/>
                    <a:p>
                      <a:r>
                        <a:rPr lang="en-IN" dirty="0"/>
                        <a:t>Dashboard UI</a:t>
                      </a:r>
                    </a:p>
                  </a:txBody>
                  <a:tcPr/>
                </a:tc>
                <a:tc>
                  <a:txBody>
                    <a:bodyPr/>
                    <a:lstStyle/>
                    <a:p>
                      <a:r>
                        <a:rPr lang="en-IN" dirty="0"/>
                        <a:t>User profile, stats</a:t>
                      </a:r>
                    </a:p>
                  </a:txBody>
                  <a:tcPr/>
                </a:tc>
                <a:tc>
                  <a:txBody>
                    <a:bodyPr/>
                    <a:lstStyle/>
                    <a:p>
                      <a:r>
                        <a:rPr lang="en-IN" dirty="0"/>
                        <a:t>80% Done</a:t>
                      </a:r>
                    </a:p>
                  </a:txBody>
                  <a:tcPr/>
                </a:tc>
                <a:tc>
                  <a:txBody>
                    <a:bodyPr/>
                    <a:lstStyle/>
                    <a:p>
                      <a:r>
                        <a:rPr lang="en-IN" dirty="0"/>
                        <a:t>UI Need Improvement </a:t>
                      </a:r>
                    </a:p>
                  </a:txBody>
                  <a:tcPr/>
                </a:tc>
                <a:extLst>
                  <a:ext uri="{0D108BD9-81ED-4DB2-BD59-A6C34878D82A}">
                    <a16:rowId xmlns:a16="http://schemas.microsoft.com/office/drawing/2014/main" val="395703313"/>
                  </a:ext>
                </a:extLst>
              </a:tr>
              <a:tr h="636639">
                <a:tc>
                  <a:txBody>
                    <a:bodyPr/>
                    <a:lstStyle/>
                    <a:p>
                      <a:r>
                        <a:rPr lang="en-IN" dirty="0"/>
                        <a:t>3</a:t>
                      </a:r>
                    </a:p>
                  </a:txBody>
                  <a:tcPr/>
                </a:tc>
                <a:tc>
                  <a:txBody>
                    <a:bodyPr/>
                    <a:lstStyle/>
                    <a:p>
                      <a:r>
                        <a:rPr lang="en-IN" dirty="0"/>
                        <a:t>CRUD Operations (Backend)</a:t>
                      </a:r>
                    </a:p>
                  </a:txBody>
                  <a:tcPr/>
                </a:tc>
                <a:tc>
                  <a:txBody>
                    <a:bodyPr/>
                    <a:lstStyle/>
                    <a:p>
                      <a:r>
                        <a:rPr lang="en-US" dirty="0"/>
                        <a:t>Create, Read, Update etc</a:t>
                      </a:r>
                      <a:endParaRPr lang="en-IN" dirty="0"/>
                    </a:p>
                  </a:txBody>
                  <a:tcPr/>
                </a:tc>
                <a:tc>
                  <a:txBody>
                    <a:bodyPr/>
                    <a:lstStyle/>
                    <a:p>
                      <a:r>
                        <a:rPr lang="en-IN" dirty="0"/>
                        <a:t>Completed</a:t>
                      </a:r>
                    </a:p>
                  </a:txBody>
                  <a:tcPr/>
                </a:tc>
                <a:tc>
                  <a:txBody>
                    <a:bodyPr/>
                    <a:lstStyle/>
                    <a:p>
                      <a:endParaRPr lang="en-IN"/>
                    </a:p>
                  </a:txBody>
                  <a:tcPr/>
                </a:tc>
                <a:extLst>
                  <a:ext uri="{0D108BD9-81ED-4DB2-BD59-A6C34878D82A}">
                    <a16:rowId xmlns:a16="http://schemas.microsoft.com/office/drawing/2014/main" val="2453544075"/>
                  </a:ext>
                </a:extLst>
              </a:tr>
              <a:tr h="909484">
                <a:tc>
                  <a:txBody>
                    <a:bodyPr/>
                    <a:lstStyle/>
                    <a:p>
                      <a:r>
                        <a:rPr lang="en-IN" dirty="0"/>
                        <a:t>4</a:t>
                      </a:r>
                    </a:p>
                  </a:txBody>
                  <a:tcPr/>
                </a:tc>
                <a:tc>
                  <a:txBody>
                    <a:bodyPr/>
                    <a:lstStyle/>
                    <a:p>
                      <a:r>
                        <a:rPr lang="en-IN" dirty="0"/>
                        <a:t>API Integration (Frontend)</a:t>
                      </a:r>
                    </a:p>
                  </a:txBody>
                  <a:tcPr/>
                </a:tc>
                <a:tc>
                  <a:txBody>
                    <a:bodyPr/>
                    <a:lstStyle/>
                    <a:p>
                      <a:r>
                        <a:rPr lang="en-US" dirty="0"/>
                        <a:t>GET /users, </a:t>
                      </a:r>
                    </a:p>
                    <a:p>
                      <a:r>
                        <a:rPr lang="en-US" dirty="0"/>
                        <a:t>POST /users, </a:t>
                      </a:r>
                    </a:p>
                    <a:p>
                      <a:r>
                        <a:rPr lang="en-US" dirty="0"/>
                        <a:t>PUT /users/:id</a:t>
                      </a:r>
                      <a:endParaRPr lang="en-IN" dirty="0"/>
                    </a:p>
                  </a:txBody>
                  <a:tcPr/>
                </a:tc>
                <a:tc>
                  <a:txBody>
                    <a:bodyPr/>
                    <a:lstStyle/>
                    <a:p>
                      <a:r>
                        <a:rPr lang="en-IN" dirty="0"/>
                        <a:t>Yet to Completed</a:t>
                      </a:r>
                      <a:endParaRPr lang="en-IN" dirty="0">
                        <a:solidFill>
                          <a:srgbClr val="FF0000"/>
                        </a:solidFill>
                      </a:endParaRPr>
                    </a:p>
                  </a:txBody>
                  <a:tcPr/>
                </a:tc>
                <a:tc>
                  <a:txBody>
                    <a:bodyPr/>
                    <a:lstStyle/>
                    <a:p>
                      <a:r>
                        <a:rPr lang="en-IN" dirty="0">
                          <a:solidFill>
                            <a:srgbClr val="FF0000"/>
                          </a:solidFill>
                        </a:rPr>
                        <a:t>Need to integrate</a:t>
                      </a:r>
                    </a:p>
                  </a:txBody>
                  <a:tcPr/>
                </a:tc>
                <a:extLst>
                  <a:ext uri="{0D108BD9-81ED-4DB2-BD59-A6C34878D82A}">
                    <a16:rowId xmlns:a16="http://schemas.microsoft.com/office/drawing/2014/main" val="2144958379"/>
                  </a:ext>
                </a:extLst>
              </a:tr>
              <a:tr h="909484">
                <a:tc>
                  <a:txBody>
                    <a:bodyPr/>
                    <a:lstStyle/>
                    <a:p>
                      <a:r>
                        <a:rPr lang="en-IN" dirty="0"/>
                        <a:t>5</a:t>
                      </a:r>
                    </a:p>
                  </a:txBody>
                  <a:tcPr/>
                </a:tc>
                <a:tc>
                  <a:txBody>
                    <a:bodyPr/>
                    <a:lstStyle/>
                    <a:p>
                      <a:r>
                        <a:rPr lang="en-US" dirty="0"/>
                        <a:t>AI Resume Generator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Generate resume using OpenAI API</a:t>
                      </a:r>
                    </a:p>
                    <a:p>
                      <a:pPr marL="0" indent="0">
                        <a:buFont typeface="Arial" panose="020B0604020202020204" pitchFamily="34" charset="0"/>
                        <a:buNone/>
                      </a:pPr>
                      <a:endParaRPr lang="en-IN" b="0" dirty="0"/>
                    </a:p>
                  </a:txBody>
                  <a:tcPr/>
                </a:tc>
                <a:tc>
                  <a:txBody>
                    <a:bodyPr/>
                    <a:lstStyle/>
                    <a:p>
                      <a:r>
                        <a:rPr lang="en-IN" dirty="0"/>
                        <a:t>75% Done</a:t>
                      </a:r>
                    </a:p>
                  </a:txBody>
                  <a:tcPr/>
                </a:tc>
                <a:tc>
                  <a:txBody>
                    <a:bodyPr/>
                    <a:lstStyle/>
                    <a:p>
                      <a:r>
                        <a:rPr lang="en-US" dirty="0"/>
                        <a:t>Core feature, high priority</a:t>
                      </a:r>
                    </a:p>
                  </a:txBody>
                  <a:tcPr/>
                </a:tc>
                <a:extLst>
                  <a:ext uri="{0D108BD9-81ED-4DB2-BD59-A6C34878D82A}">
                    <a16:rowId xmlns:a16="http://schemas.microsoft.com/office/drawing/2014/main" val="2993447339"/>
                  </a:ext>
                </a:extLst>
              </a:tr>
              <a:tr h="636639">
                <a:tc>
                  <a:txBody>
                    <a:bodyPr/>
                    <a:lstStyle/>
                    <a:p>
                      <a:r>
                        <a:rPr lang="en-IN"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Resume Templates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Multiple modern resume designs</a:t>
                      </a:r>
                    </a:p>
                  </a:txBody>
                  <a:tcPr/>
                </a:tc>
                <a:tc>
                  <a:txBody>
                    <a:bodyPr/>
                    <a:lstStyle/>
                    <a:p>
                      <a:r>
                        <a:rPr lang="en-IN" dirty="0"/>
                        <a:t>Completed</a:t>
                      </a:r>
                    </a:p>
                  </a:txBody>
                  <a:tcPr/>
                </a:tc>
                <a:tc>
                  <a:txBody>
                    <a:bodyPr/>
                    <a:lstStyle/>
                    <a:p>
                      <a:endParaRPr lang="en-US" dirty="0"/>
                    </a:p>
                  </a:txBody>
                  <a:tcPr/>
                </a:tc>
                <a:extLst>
                  <a:ext uri="{0D108BD9-81ED-4DB2-BD59-A6C34878D82A}">
                    <a16:rowId xmlns:a16="http://schemas.microsoft.com/office/drawing/2014/main" val="251573662"/>
                  </a:ext>
                </a:extLst>
              </a:tr>
              <a:tr h="636639">
                <a:tc>
                  <a:txBody>
                    <a:bodyPr/>
                    <a:lstStyle/>
                    <a:p>
                      <a:r>
                        <a:rPr lang="en-IN"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PDF Export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Download resume as PDF</a:t>
                      </a:r>
                    </a:p>
                  </a:txBody>
                  <a:tcPr/>
                </a:tc>
                <a:tc>
                  <a:txBody>
                    <a:bodyPr/>
                    <a:lstStyle/>
                    <a:p>
                      <a:r>
                        <a:rPr lang="en-IN" dirty="0"/>
                        <a:t>Completed</a:t>
                      </a:r>
                    </a:p>
                  </a:txBody>
                  <a:tcPr/>
                </a:tc>
                <a:tc>
                  <a:txBody>
                    <a:bodyPr/>
                    <a:lstStyle/>
                    <a:p>
                      <a:endParaRPr lang="en-US" dirty="0"/>
                    </a:p>
                  </a:txBody>
                  <a:tcPr/>
                </a:tc>
                <a:extLst>
                  <a:ext uri="{0D108BD9-81ED-4DB2-BD59-A6C34878D82A}">
                    <a16:rowId xmlns:a16="http://schemas.microsoft.com/office/drawing/2014/main" val="3015198341"/>
                  </a:ext>
                </a:extLst>
              </a:tr>
              <a:tr h="636639">
                <a:tc>
                  <a:txBody>
                    <a:bodyPr/>
                    <a:lstStyle/>
                    <a:p>
                      <a:r>
                        <a:rPr lang="en-IN"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Deployment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Deploy on </a:t>
                      </a:r>
                      <a:r>
                        <a:rPr lang="en-US" dirty="0" err="1"/>
                        <a:t>Vercel</a:t>
                      </a:r>
                      <a:r>
                        <a:rPr lang="en-US" dirty="0"/>
                        <a:t>/Render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Started</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 stage</a:t>
                      </a:r>
                    </a:p>
                  </a:txBody>
                  <a:tcPr/>
                </a:tc>
                <a:extLst>
                  <a:ext uri="{0D108BD9-81ED-4DB2-BD59-A6C34878D82A}">
                    <a16:rowId xmlns:a16="http://schemas.microsoft.com/office/drawing/2014/main" val="2554297572"/>
                  </a:ext>
                </a:extLst>
              </a:tr>
            </a:tbl>
          </a:graphicData>
        </a:graphic>
      </p:graphicFrame>
    </p:spTree>
    <p:extLst>
      <p:ext uri="{BB962C8B-B14F-4D97-AF65-F5344CB8AC3E}">
        <p14:creationId xmlns:p14="http://schemas.microsoft.com/office/powerpoint/2010/main" val="1390049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571AD-C6D7-91A1-4503-213E0DAB5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A2068-0F6B-38FC-8C04-99F5604F5D38}"/>
              </a:ext>
            </a:extLst>
          </p:cNvPr>
          <p:cNvSpPr>
            <a:spLocks noGrp="1"/>
          </p:cNvSpPr>
          <p:nvPr>
            <p:ph type="title"/>
          </p:nvPr>
        </p:nvSpPr>
        <p:spPr>
          <a:xfrm>
            <a:off x="838200" y="365125"/>
            <a:ext cx="10515600" cy="391959"/>
          </a:xfrm>
        </p:spPr>
        <p:txBody>
          <a:bodyPr>
            <a:normAutofit fontScale="90000"/>
          </a:bodyPr>
          <a:lstStyle/>
          <a:p>
            <a:r>
              <a:rPr lang="en-IN" dirty="0"/>
              <a:t>                   </a:t>
            </a:r>
            <a:r>
              <a:rPr lang="en-IN" b="1" dirty="0"/>
              <a:t>Front End Modules </a:t>
            </a:r>
          </a:p>
        </p:txBody>
      </p:sp>
      <p:sp>
        <p:nvSpPr>
          <p:cNvPr id="3" name="Content Placeholder 2">
            <a:extLst>
              <a:ext uri="{FF2B5EF4-FFF2-40B4-BE49-F238E27FC236}">
                <a16:creationId xmlns:a16="http://schemas.microsoft.com/office/drawing/2014/main" id="{3E05E6D0-D72C-A76A-41F7-464799B066DF}"/>
              </a:ext>
            </a:extLst>
          </p:cNvPr>
          <p:cNvSpPr>
            <a:spLocks noGrp="1"/>
          </p:cNvSpPr>
          <p:nvPr>
            <p:ph idx="1"/>
          </p:nvPr>
        </p:nvSpPr>
        <p:spPr>
          <a:xfrm>
            <a:off x="838200" y="935421"/>
            <a:ext cx="10515600" cy="5241542"/>
          </a:xfrm>
        </p:spPr>
        <p:txBody>
          <a:bodyPr>
            <a:noAutofit/>
          </a:bodyPr>
          <a:lstStyle/>
          <a:p>
            <a:r>
              <a:rPr lang="en-US" sz="2000" b="1" dirty="0"/>
              <a:t>Authentication Module</a:t>
            </a:r>
            <a:endParaRPr lang="en-US" sz="2000" dirty="0"/>
          </a:p>
          <a:p>
            <a:pPr marL="0" indent="0">
              <a:buNone/>
            </a:pPr>
            <a:r>
              <a:rPr lang="en-US" sz="2000" dirty="0"/>
              <a:t>    Login, Signup, JWT handling, session management</a:t>
            </a:r>
          </a:p>
          <a:p>
            <a:r>
              <a:rPr lang="en-US" sz="2000" b="1" dirty="0"/>
              <a:t>Dashboard Module</a:t>
            </a:r>
            <a:endParaRPr lang="en-US" sz="2000" dirty="0"/>
          </a:p>
          <a:p>
            <a:pPr marL="0" indent="0">
              <a:buNone/>
            </a:pPr>
            <a:r>
              <a:rPr lang="en-US" sz="2000" dirty="0"/>
              <a:t>    User overview, saved resumes, quick actions</a:t>
            </a:r>
          </a:p>
          <a:p>
            <a:r>
              <a:rPr lang="en-US" sz="2000" b="1" dirty="0"/>
              <a:t>Resume Builder Form Module</a:t>
            </a:r>
            <a:endParaRPr lang="en-US" sz="2000" dirty="0"/>
          </a:p>
          <a:p>
            <a:pPr marL="0" indent="0">
              <a:buNone/>
            </a:pPr>
            <a:r>
              <a:rPr lang="en-US" sz="2000" dirty="0"/>
              <a:t>    Input forms for personal details, education, skills, experience</a:t>
            </a:r>
          </a:p>
          <a:p>
            <a:r>
              <a:rPr lang="en-US" sz="2000" b="1" dirty="0"/>
              <a:t>AI Content Generator Module</a:t>
            </a:r>
            <a:endParaRPr lang="en-US" sz="2000" dirty="0"/>
          </a:p>
          <a:p>
            <a:pPr marL="0" indent="0">
              <a:buNone/>
            </a:pPr>
            <a:r>
              <a:rPr lang="en-US" sz="2000" dirty="0"/>
              <a:t>    Generate resume content using AI (OpenAI API integration)</a:t>
            </a:r>
          </a:p>
          <a:p>
            <a:r>
              <a:rPr lang="en-US" sz="2000" b="1" dirty="0"/>
              <a:t>Resume Preview Module</a:t>
            </a:r>
            <a:endParaRPr lang="en-US" sz="2000" dirty="0"/>
          </a:p>
          <a:p>
            <a:pPr marL="0" indent="0">
              <a:buNone/>
            </a:pPr>
            <a:r>
              <a:rPr lang="en-US" sz="2000" dirty="0"/>
              <a:t>     Live preview of resume while editing</a:t>
            </a:r>
          </a:p>
          <a:p>
            <a:r>
              <a:rPr lang="en-US" sz="2000" b="1" dirty="0"/>
              <a:t>Template Selection Module</a:t>
            </a:r>
          </a:p>
          <a:p>
            <a:pPr marL="0" indent="0">
              <a:buNone/>
            </a:pPr>
            <a:r>
              <a:rPr lang="en-US" sz="2000" b="1" dirty="0"/>
              <a:t>     </a:t>
            </a:r>
            <a:r>
              <a:rPr lang="en-US" sz="2000" dirty="0"/>
              <a:t>Choose from multiple resume designs</a:t>
            </a:r>
          </a:p>
        </p:txBody>
      </p:sp>
    </p:spTree>
    <p:extLst>
      <p:ext uri="{BB962C8B-B14F-4D97-AF65-F5344CB8AC3E}">
        <p14:creationId xmlns:p14="http://schemas.microsoft.com/office/powerpoint/2010/main" val="1355288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C0AA2-B20B-355C-68AA-9C3D40C00B8C}"/>
              </a:ext>
            </a:extLst>
          </p:cNvPr>
          <p:cNvSpPr>
            <a:spLocks noGrp="1"/>
          </p:cNvSpPr>
          <p:nvPr>
            <p:ph type="title"/>
          </p:nvPr>
        </p:nvSpPr>
        <p:spPr>
          <a:xfrm>
            <a:off x="838200" y="365125"/>
            <a:ext cx="10515600" cy="391959"/>
          </a:xfrm>
        </p:spPr>
        <p:txBody>
          <a:bodyPr>
            <a:normAutofit fontScale="90000"/>
          </a:bodyPr>
          <a:lstStyle/>
          <a:p>
            <a:r>
              <a:rPr lang="en-IN" dirty="0"/>
              <a:t>                   </a:t>
            </a:r>
            <a:r>
              <a:rPr lang="en-IN" b="1" dirty="0"/>
              <a:t>Front End Modules </a:t>
            </a:r>
          </a:p>
        </p:txBody>
      </p:sp>
      <p:sp>
        <p:nvSpPr>
          <p:cNvPr id="3" name="Content Placeholder 2">
            <a:extLst>
              <a:ext uri="{FF2B5EF4-FFF2-40B4-BE49-F238E27FC236}">
                <a16:creationId xmlns:a16="http://schemas.microsoft.com/office/drawing/2014/main" id="{D6DE16C2-EFAE-BB74-2DC1-4237DDFFC692}"/>
              </a:ext>
            </a:extLst>
          </p:cNvPr>
          <p:cNvSpPr>
            <a:spLocks noGrp="1"/>
          </p:cNvSpPr>
          <p:nvPr>
            <p:ph idx="1"/>
          </p:nvPr>
        </p:nvSpPr>
        <p:spPr>
          <a:xfrm>
            <a:off x="838200" y="935421"/>
            <a:ext cx="10515600" cy="5241542"/>
          </a:xfrm>
        </p:spPr>
        <p:txBody>
          <a:bodyPr>
            <a:normAutofit/>
          </a:bodyPr>
          <a:lstStyle/>
          <a:p>
            <a:r>
              <a:rPr lang="en-US" sz="2000" b="1" dirty="0"/>
              <a:t>PDF Export Module</a:t>
            </a:r>
            <a:endParaRPr lang="en-US" sz="2000" dirty="0"/>
          </a:p>
          <a:p>
            <a:pPr marL="0" indent="0">
              <a:buNone/>
            </a:pPr>
            <a:r>
              <a:rPr lang="en-US" sz="2000" dirty="0"/>
              <a:t>    Download resume in PDF format</a:t>
            </a:r>
          </a:p>
          <a:p>
            <a:r>
              <a:rPr lang="en-US" sz="2000" b="1" dirty="0"/>
              <a:t>Edit &amp; Update Module</a:t>
            </a:r>
            <a:endParaRPr lang="en-US" sz="2000" dirty="0"/>
          </a:p>
          <a:p>
            <a:pPr marL="0" indent="0">
              <a:buNone/>
            </a:pPr>
            <a:r>
              <a:rPr lang="en-US" sz="2000" dirty="0"/>
              <a:t>    Modify existing resumes</a:t>
            </a:r>
          </a:p>
          <a:p>
            <a:r>
              <a:rPr lang="en-US" sz="2000" b="1" dirty="0"/>
              <a:t>API Integration Module</a:t>
            </a:r>
            <a:endParaRPr lang="en-US" sz="2000" dirty="0"/>
          </a:p>
          <a:p>
            <a:pPr marL="0" indent="0">
              <a:buNone/>
            </a:pPr>
            <a:r>
              <a:rPr lang="en-US" sz="2000" dirty="0"/>
              <a:t>    Connect frontend with backend services using Axios/Fetch</a:t>
            </a:r>
          </a:p>
          <a:p>
            <a:r>
              <a:rPr lang="en-US" sz="2000" b="1" dirty="0"/>
              <a:t>UI Components Module</a:t>
            </a:r>
            <a:endParaRPr lang="en-US" sz="2000" dirty="0"/>
          </a:p>
          <a:p>
            <a:pPr marL="0" indent="0">
              <a:buNone/>
            </a:pPr>
            <a:r>
              <a:rPr lang="en-US" sz="2000" dirty="0"/>
              <a:t>    Reusable components like navbar, buttons, forms, cards</a:t>
            </a:r>
            <a:endParaRPr lang="en-US" sz="2000" dirty="0">
              <a:solidFill>
                <a:schemeClr val="bg1">
                  <a:lumMod val="50000"/>
                </a:schemeClr>
              </a:solidFill>
            </a:endParaRPr>
          </a:p>
        </p:txBody>
      </p:sp>
    </p:spTree>
    <p:extLst>
      <p:ext uri="{BB962C8B-B14F-4D97-AF65-F5344CB8AC3E}">
        <p14:creationId xmlns:p14="http://schemas.microsoft.com/office/powerpoint/2010/main" val="3309771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347EB-BA5C-A8F5-0C1B-3D104978E762}"/>
              </a:ext>
            </a:extLst>
          </p:cNvPr>
          <p:cNvSpPr>
            <a:spLocks noGrp="1"/>
          </p:cNvSpPr>
          <p:nvPr>
            <p:ph type="title"/>
          </p:nvPr>
        </p:nvSpPr>
        <p:spPr>
          <a:xfrm>
            <a:off x="838200" y="241739"/>
            <a:ext cx="10515600" cy="3626068"/>
          </a:xfrm>
        </p:spPr>
        <p:txBody>
          <a:bodyPr>
            <a:noAutofit/>
          </a:bodyPr>
          <a:lstStyle/>
          <a:p>
            <a:r>
              <a:rPr lang="en-US" sz="2000" b="1" dirty="0">
                <a:latin typeface="Times New Roman" panose="02020603050405020304" pitchFamily="18" charset="0"/>
                <a:cs typeface="Times New Roman" panose="02020603050405020304" pitchFamily="18" charset="0"/>
              </a:rPr>
              <a:t>Resume Builder Page (Component 2)</a:t>
            </a:r>
            <a:br>
              <a:rPr lang="en-US" sz="2000" b="1"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Display a form to collect user details (name, education, skills, experience)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Generate resume content using AI (via OpenAI API)</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Show real-time preview of the resume while editing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Allow users to select different resume templates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Responsive layout (works on mobile, tablet, desktop)</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Option to edit, update, and regenerate content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Download resume as PDF</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885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7AA06-6EDA-C74D-8517-491B08CC9F30}"/>
              </a:ext>
            </a:extLst>
          </p:cNvPr>
          <p:cNvSpPr>
            <a:spLocks noGrp="1"/>
          </p:cNvSpPr>
          <p:nvPr>
            <p:ph type="title"/>
          </p:nvPr>
        </p:nvSpPr>
        <p:spPr/>
        <p:txBody>
          <a:bodyPr/>
          <a:lstStyle/>
          <a:p>
            <a:r>
              <a:rPr lang="en-US" b="1" dirty="0"/>
              <a:t>Dashboard Page (Component 1)</a:t>
            </a:r>
          </a:p>
        </p:txBody>
      </p:sp>
      <p:sp>
        <p:nvSpPr>
          <p:cNvPr id="3" name="Content Placeholder 2">
            <a:extLst>
              <a:ext uri="{FF2B5EF4-FFF2-40B4-BE49-F238E27FC236}">
                <a16:creationId xmlns:a16="http://schemas.microsoft.com/office/drawing/2014/main" id="{0B5922FD-ACBD-4D29-D81C-45BB8108F9CF}"/>
              </a:ext>
            </a:extLst>
          </p:cNvPr>
          <p:cNvSpPr>
            <a:spLocks noGrp="1"/>
          </p:cNvSpPr>
          <p:nvPr>
            <p:ph idx="1"/>
          </p:nvPr>
        </p:nvSpPr>
        <p:spPr/>
        <p:txBody>
          <a:bodyPr>
            <a:normAutofit/>
          </a:bodyPr>
          <a:lstStyle/>
          <a:p>
            <a:r>
              <a:rPr lang="en-US" dirty="0"/>
              <a:t>Display user profile and saved resumes</a:t>
            </a:r>
          </a:p>
          <a:p>
            <a:r>
              <a:rPr lang="en-US" dirty="0"/>
              <a:t>Create new resume option</a:t>
            </a:r>
          </a:p>
          <a:p>
            <a:r>
              <a:rPr lang="en-US" dirty="0"/>
              <a:t>Edit/Delete existing resumes</a:t>
            </a:r>
          </a:p>
          <a:p>
            <a:r>
              <a:rPr lang="en-US" dirty="0"/>
              <a:t>Quick navigation to builder</a:t>
            </a:r>
          </a:p>
          <a:p>
            <a:r>
              <a:rPr lang="en-US" dirty="0"/>
              <a:t>Responsive UI design</a:t>
            </a:r>
          </a:p>
        </p:txBody>
      </p:sp>
    </p:spTree>
    <p:extLst>
      <p:ext uri="{BB962C8B-B14F-4D97-AF65-F5344CB8AC3E}">
        <p14:creationId xmlns:p14="http://schemas.microsoft.com/office/powerpoint/2010/main" val="1156484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80BF0-3B69-F79D-77B9-1067F95A0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84361-B8FA-8CD7-6CCF-59F33550B795}"/>
              </a:ext>
            </a:extLst>
          </p:cNvPr>
          <p:cNvSpPr>
            <a:spLocks noGrp="1"/>
          </p:cNvSpPr>
          <p:nvPr>
            <p:ph type="title"/>
          </p:nvPr>
        </p:nvSpPr>
        <p:spPr/>
        <p:txBody>
          <a:bodyPr/>
          <a:lstStyle/>
          <a:p>
            <a:r>
              <a:rPr lang="en-US" b="1" dirty="0"/>
              <a:t>Resume Builder Page (Component 2)</a:t>
            </a:r>
            <a:endParaRPr lang="en-IN" dirty="0"/>
          </a:p>
        </p:txBody>
      </p:sp>
      <p:sp>
        <p:nvSpPr>
          <p:cNvPr id="3" name="Content Placeholder 2">
            <a:extLst>
              <a:ext uri="{FF2B5EF4-FFF2-40B4-BE49-F238E27FC236}">
                <a16:creationId xmlns:a16="http://schemas.microsoft.com/office/drawing/2014/main" id="{24C20910-463A-8774-2762-AA7C119477DD}"/>
              </a:ext>
            </a:extLst>
          </p:cNvPr>
          <p:cNvSpPr>
            <a:spLocks noGrp="1"/>
          </p:cNvSpPr>
          <p:nvPr>
            <p:ph idx="1"/>
          </p:nvPr>
        </p:nvSpPr>
        <p:spPr/>
        <p:txBody>
          <a:bodyPr>
            <a:normAutofit/>
          </a:bodyPr>
          <a:lstStyle/>
          <a:p>
            <a:r>
              <a:rPr lang="en-US" dirty="0"/>
              <a:t>Display a form to collect user details (name, education, skills, experience)</a:t>
            </a:r>
          </a:p>
          <a:p>
            <a:r>
              <a:rPr lang="en-US" dirty="0"/>
              <a:t>Generate resume content using AI (via OpenAI API)</a:t>
            </a:r>
          </a:p>
          <a:p>
            <a:r>
              <a:rPr lang="en-US" dirty="0"/>
              <a:t>Show real-time preview of the resume while editing</a:t>
            </a:r>
          </a:p>
          <a:p>
            <a:r>
              <a:rPr lang="en-US" dirty="0"/>
              <a:t>Allow users to select different resume templates</a:t>
            </a:r>
          </a:p>
          <a:p>
            <a:r>
              <a:rPr lang="en-US" dirty="0"/>
              <a:t>Responsive layout </a:t>
            </a:r>
          </a:p>
          <a:p>
            <a:r>
              <a:rPr lang="en-US" dirty="0"/>
              <a:t>Option to edit, update, and regenerate content</a:t>
            </a:r>
          </a:p>
          <a:p>
            <a:r>
              <a:rPr lang="en-US" dirty="0"/>
              <a:t>Download resume as PDF</a:t>
            </a:r>
          </a:p>
        </p:txBody>
      </p:sp>
    </p:spTree>
    <p:extLst>
      <p:ext uri="{BB962C8B-B14F-4D97-AF65-F5344CB8AC3E}">
        <p14:creationId xmlns:p14="http://schemas.microsoft.com/office/powerpoint/2010/main" val="41432753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5526-56E9-12DE-4133-33809EFAF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222E4-27CA-E53A-233F-23B72FBC9C1E}"/>
              </a:ext>
            </a:extLst>
          </p:cNvPr>
          <p:cNvSpPr>
            <a:spLocks noGrp="1"/>
          </p:cNvSpPr>
          <p:nvPr>
            <p:ph type="title"/>
          </p:nvPr>
        </p:nvSpPr>
        <p:spPr/>
        <p:txBody>
          <a:bodyPr/>
          <a:lstStyle/>
          <a:p>
            <a:r>
              <a:rPr lang="en-US" b="1" dirty="0"/>
              <a:t>Login Page (Component 3)</a:t>
            </a:r>
          </a:p>
        </p:txBody>
      </p:sp>
      <p:sp>
        <p:nvSpPr>
          <p:cNvPr id="3" name="Content Placeholder 2">
            <a:extLst>
              <a:ext uri="{FF2B5EF4-FFF2-40B4-BE49-F238E27FC236}">
                <a16:creationId xmlns:a16="http://schemas.microsoft.com/office/drawing/2014/main" id="{42D41BB8-A3FF-2C03-8FDE-2DEDB6A6DE6F}"/>
              </a:ext>
            </a:extLst>
          </p:cNvPr>
          <p:cNvSpPr>
            <a:spLocks noGrp="1"/>
          </p:cNvSpPr>
          <p:nvPr>
            <p:ph idx="1"/>
          </p:nvPr>
        </p:nvSpPr>
        <p:spPr/>
        <p:txBody>
          <a:bodyPr>
            <a:normAutofit/>
          </a:bodyPr>
          <a:lstStyle/>
          <a:p>
            <a:r>
              <a:rPr lang="en-US" dirty="0"/>
              <a:t>Simple login form with email/username and password fields</a:t>
            </a:r>
          </a:p>
          <a:p>
            <a:r>
              <a:rPr lang="en-US" dirty="0"/>
              <a:t>User authentication using JWT (or dummy validation if backend not connected)</a:t>
            </a:r>
          </a:p>
          <a:p>
            <a:r>
              <a:rPr lang="en-US" dirty="0"/>
              <a:t>Error handling for invalid credentials</a:t>
            </a:r>
          </a:p>
          <a:p>
            <a:r>
              <a:rPr lang="en-US" dirty="0"/>
              <a:t>Option for signup navigation (new users)</a:t>
            </a:r>
          </a:p>
          <a:p>
            <a:r>
              <a:rPr lang="en-US" dirty="0"/>
              <a:t>Styled using Tailwind CSS / Bootstrap for clean UI</a:t>
            </a:r>
          </a:p>
          <a:p>
            <a:r>
              <a:rPr lang="en-US" dirty="0"/>
              <a:t>Responsive design for mobile and desktop</a:t>
            </a:r>
          </a:p>
        </p:txBody>
      </p:sp>
    </p:spTree>
    <p:extLst>
      <p:ext uri="{BB962C8B-B14F-4D97-AF65-F5344CB8AC3E}">
        <p14:creationId xmlns:p14="http://schemas.microsoft.com/office/powerpoint/2010/main" val="2138627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0009-7782-8D30-FF26-8199C6428DC6}"/>
              </a:ext>
            </a:extLst>
          </p:cNvPr>
          <p:cNvSpPr>
            <a:spLocks noGrp="1"/>
          </p:cNvSpPr>
          <p:nvPr>
            <p:ph type="title"/>
          </p:nvPr>
        </p:nvSpPr>
        <p:spPr/>
        <p:txBody>
          <a:bodyPr/>
          <a:lstStyle/>
          <a:p>
            <a:r>
              <a:rPr lang="en-IN" dirty="0"/>
              <a:t>           </a:t>
            </a:r>
            <a:r>
              <a:rPr lang="en-IN" b="1" dirty="0"/>
              <a:t>UI/UX Screenshots &amp; Demo</a:t>
            </a:r>
          </a:p>
        </p:txBody>
      </p:sp>
      <p:pic>
        <p:nvPicPr>
          <p:cNvPr id="5" name="Content Placeholder 4">
            <a:extLst>
              <a:ext uri="{FF2B5EF4-FFF2-40B4-BE49-F238E27FC236}">
                <a16:creationId xmlns:a16="http://schemas.microsoft.com/office/drawing/2014/main" id="{1B0C927D-6C9D-6CF2-4FFE-36173C97E8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0016" y="1825625"/>
            <a:ext cx="7291968" cy="4351338"/>
          </a:xfrm>
          <a:prstGeom prst="rect">
            <a:avLst/>
          </a:prstGeom>
        </p:spPr>
      </p:pic>
    </p:spTree>
    <p:extLst>
      <p:ext uri="{BB962C8B-B14F-4D97-AF65-F5344CB8AC3E}">
        <p14:creationId xmlns:p14="http://schemas.microsoft.com/office/powerpoint/2010/main" val="835404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7B258-C2A5-96D1-279C-F7B022C2D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6CB30-403E-5439-F2A6-6F0D305DA58A}"/>
              </a:ext>
            </a:extLst>
          </p:cNvPr>
          <p:cNvSpPr>
            <a:spLocks noGrp="1"/>
          </p:cNvSpPr>
          <p:nvPr>
            <p:ph type="title"/>
          </p:nvPr>
        </p:nvSpPr>
        <p:spPr/>
        <p:txBody>
          <a:bodyPr/>
          <a:lstStyle/>
          <a:p>
            <a:r>
              <a:rPr lang="en-IN" dirty="0"/>
              <a:t>           </a:t>
            </a:r>
            <a:r>
              <a:rPr lang="en-IN" b="1" dirty="0"/>
              <a:t>UI/UX Screenshots &amp; Demo</a:t>
            </a:r>
          </a:p>
        </p:txBody>
      </p:sp>
      <p:pic>
        <p:nvPicPr>
          <p:cNvPr id="7" name="Content Placeholder 6">
            <a:extLst>
              <a:ext uri="{FF2B5EF4-FFF2-40B4-BE49-F238E27FC236}">
                <a16:creationId xmlns:a16="http://schemas.microsoft.com/office/drawing/2014/main" id="{ECD3623B-13F3-973E-6A94-FF59E74E50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6367" y="1825625"/>
            <a:ext cx="7979266" cy="4351338"/>
          </a:xfrm>
          <a:prstGeom prst="rect">
            <a:avLst/>
          </a:prstGeom>
        </p:spPr>
      </p:pic>
    </p:spTree>
    <p:extLst>
      <p:ext uri="{BB962C8B-B14F-4D97-AF65-F5344CB8AC3E}">
        <p14:creationId xmlns:p14="http://schemas.microsoft.com/office/powerpoint/2010/main" val="2122523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4AC0-5D15-99D7-5EEB-D873AAC1D4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AA099C-CA6E-EED5-3AE3-8D8CAC66DE94}"/>
              </a:ext>
            </a:extLst>
          </p:cNvPr>
          <p:cNvSpPr>
            <a:spLocks noGrp="1"/>
          </p:cNvSpPr>
          <p:nvPr>
            <p:ph type="title"/>
          </p:nvPr>
        </p:nvSpPr>
        <p:spPr/>
        <p:txBody>
          <a:bodyPr/>
          <a:lstStyle/>
          <a:p>
            <a:r>
              <a:rPr lang="en-IN" dirty="0"/>
              <a:t>           </a:t>
            </a:r>
            <a:r>
              <a:rPr lang="en-IN" b="1" dirty="0"/>
              <a:t>UI/UX Screenshots &amp; Demo</a:t>
            </a:r>
          </a:p>
        </p:txBody>
      </p:sp>
      <p:pic>
        <p:nvPicPr>
          <p:cNvPr id="5" name="Content Placeholder 4">
            <a:extLst>
              <a:ext uri="{FF2B5EF4-FFF2-40B4-BE49-F238E27FC236}">
                <a16:creationId xmlns:a16="http://schemas.microsoft.com/office/drawing/2014/main" id="{AB0030B4-5D27-0B6D-C16D-3029B0E611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5049" y="1825625"/>
            <a:ext cx="7301902" cy="4351338"/>
          </a:xfrm>
          <a:prstGeom prst="rect">
            <a:avLst/>
          </a:prstGeom>
        </p:spPr>
      </p:pic>
    </p:spTree>
    <p:extLst>
      <p:ext uri="{BB962C8B-B14F-4D97-AF65-F5344CB8AC3E}">
        <p14:creationId xmlns:p14="http://schemas.microsoft.com/office/powerpoint/2010/main" val="2300432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7DA31-BD0D-4CF8-E7D3-CFA309A54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1F01F-682C-C775-F948-AEF6B8A914DA}"/>
              </a:ext>
            </a:extLst>
          </p:cNvPr>
          <p:cNvSpPr>
            <a:spLocks noGrp="1"/>
          </p:cNvSpPr>
          <p:nvPr>
            <p:ph type="title"/>
          </p:nvPr>
        </p:nvSpPr>
        <p:spPr/>
        <p:txBody>
          <a:bodyPr/>
          <a:lstStyle/>
          <a:p>
            <a:r>
              <a:rPr lang="en-IN" dirty="0"/>
              <a:t>           </a:t>
            </a:r>
            <a:r>
              <a:rPr lang="en-IN" b="1" dirty="0"/>
              <a:t>UI/UX Screenshots &amp; Demo</a:t>
            </a:r>
          </a:p>
        </p:txBody>
      </p:sp>
      <p:pic>
        <p:nvPicPr>
          <p:cNvPr id="7" name="Content Placeholder 6">
            <a:extLst>
              <a:ext uri="{FF2B5EF4-FFF2-40B4-BE49-F238E27FC236}">
                <a16:creationId xmlns:a16="http://schemas.microsoft.com/office/drawing/2014/main" id="{3F7C4E71-A5FC-99C0-BF91-AF4094B5567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8089" y="1825625"/>
            <a:ext cx="7235822" cy="4351338"/>
          </a:xfrm>
          <a:prstGeom prst="rect">
            <a:avLst/>
          </a:prstGeom>
        </p:spPr>
      </p:pic>
    </p:spTree>
    <p:extLst>
      <p:ext uri="{BB962C8B-B14F-4D97-AF65-F5344CB8AC3E}">
        <p14:creationId xmlns:p14="http://schemas.microsoft.com/office/powerpoint/2010/main" val="3499440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531</Words>
  <Application>Microsoft Macintosh PowerPoint</Application>
  <PresentationFormat>Widescreen</PresentationFormat>
  <Paragraphs>98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                        AI Resume Builder </vt:lpstr>
      <vt:lpstr>                             Review -2                             70% Completion</vt:lpstr>
      <vt:lpstr>          Project Implementation Status</vt:lpstr>
      <vt:lpstr>                   Front End Modules </vt:lpstr>
      <vt:lpstr>                   Front End Modules </vt:lpstr>
      <vt:lpstr>Resume Builder Page (Component 2) Display a form to collect user details (name, education, skills, experience) Generate resume content using AI (via OpenAI API) Show real-time preview of the resume while editing Allow users to select different resume templates Responsive layout (works on mobile, tablet, desktop) Option to edit, update, and regenerate content Download resume as PDF </vt:lpstr>
      <vt:lpstr>Dashboard Page (Component 1)</vt:lpstr>
      <vt:lpstr>Resume Builder Page (Component 2)</vt:lpstr>
      <vt:lpstr>Login Page (Component 3)</vt:lpstr>
      <vt:lpstr>           UI/UX Screenshots &amp; Demo</vt:lpstr>
      <vt:lpstr>           UI/UX Screenshots &amp; Demo</vt:lpstr>
      <vt:lpstr>           UI/UX Screenshots &amp; Demo</vt:lpstr>
      <vt:lpstr>           UI/UX Screenshots &amp;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jagadishdell@outlook.com</dc:creator>
  <cp:lastModifiedBy>AKASH KOTHA (RA2312704010004)</cp:lastModifiedBy>
  <cp:revision>13</cp:revision>
  <dcterms:created xsi:type="dcterms:W3CDTF">2025-02-28T09:23:34Z</dcterms:created>
  <dcterms:modified xsi:type="dcterms:W3CDTF">2026-04-15T05:57:44Z</dcterms:modified>
</cp:coreProperties>
</file>